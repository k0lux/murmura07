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3200400" cy="3200400"/>
          </a:xfrm>
          <a:prstGeom prst="ellipse">
            <a:avLst/>
          </a:prstGeom>
          <a:solidFill>
            <a:srgbClr val="0D7377">
              <a:alpha val="10000"/>
            </a:srgbClr>
          </a:solidFill>
          <a:ln w="12700">
            <a:solidFill>
              <a:srgbClr val="0D737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01168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PRÉ-INCUBATEUR CEF LOMÉ · IJE-UniPod ·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59436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228600" y="18745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Augmentée par l'Intelligence Artificielle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8600" y="2468880"/>
            <a:ext cx="3657600" cy="0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 Kassaluc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Software Engineer · Python · IA · Cloud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 · Lomé, Togo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3931920"/>
            <a:ext cx="2651760" cy="86868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9867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7,7M FCFA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" y="4389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63240" y="3931920"/>
            <a:ext cx="2651760" cy="86868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39867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4,7M FCFA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154680" y="4389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sollicité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3931920"/>
            <a:ext cx="2651760" cy="86868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9867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emplois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89320" y="4389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Créés An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PRÉSENTATION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02920" cy="8686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&amp; Opportunité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 sur la messagerie actuelle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28800"/>
            <a:ext cx="502920" cy="8686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57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Murmura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286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approche différenciante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502920" cy="8686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632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9260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Produit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502920" cy="8686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690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9319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&amp; Traction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297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du marché et positionnement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8229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22960"/>
            <a:ext cx="502920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51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914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Murmura génère des revenus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8288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828800"/>
            <a:ext cx="502920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57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Financier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286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sur 3 ans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8346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34640"/>
            <a:ext cx="502920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632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49240" y="29260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talents derrière Murmura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840480"/>
            <a:ext cx="502920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0690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49240" y="39319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4297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vient ensuite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messageries actuelles sont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Avengles et passives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011680" cy="3063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783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Informationnelle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0972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154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dizaines de conversations actives sans priorisation. L'information importante se noie.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32304" y="1600200"/>
            <a:ext cx="2011680" cy="3063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2304" y="1783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32304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Contexte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89504" y="3017520"/>
            <a:ext cx="10972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3154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retrouver des informations éparpillées dans des mois de discussions.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90288" y="1600200"/>
            <a:ext cx="2011680" cy="3063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90288" y="1783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😶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90288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Proactivité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47488" y="3017520"/>
            <a:ext cx="10972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3154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ne suggèrent rien, n'anticipent rien. Tout repose sur l'utilisateur.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48272" y="1600200"/>
            <a:ext cx="2011680" cy="3063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48272" y="1783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48272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Déconnectés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05472" y="3017520"/>
            <a:ext cx="10972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3154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discussion de groupe et un message privé connexe ne sont jamais reliés.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L'OPPORTUNITÉ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africain en explosion,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capturé par les acteurs locaux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72768"/>
            <a:ext cx="196596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82496"/>
            <a:ext cx="17830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$32Md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451506"/>
            <a:ext cx="18745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IA conv.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572768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572768"/>
            <a:ext cx="196596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682496"/>
            <a:ext cx="17830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96312" y="2451506"/>
            <a:ext cx="18745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Pénétration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Togo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572768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572768"/>
            <a:ext cx="196596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682496"/>
            <a:ext cx="17830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72584" y="2451506"/>
            <a:ext cx="18745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annuelle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Afrique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572768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572768"/>
            <a:ext cx="19659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1682496"/>
            <a:ext cx="17830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48856" y="2451506"/>
            <a:ext cx="187452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sérieux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1272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 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593592"/>
            <a:ext cx="228600" cy="228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520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IA accessibles et abordables dès 2024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05072"/>
            <a:ext cx="228600" cy="228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931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 accélérée post-COVID en Afrique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593592"/>
            <a:ext cx="228600" cy="228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3520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puissance des PME numériques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005072"/>
            <a:ext cx="228600" cy="228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3931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WhatsApp IA adapté au contexte africain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L'assistant qui comprend, relie et anticipe vos conversations.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Contextuelle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mémorise le contexte de toutes vos conversations et les relie intelligemment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87452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2011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Proactives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des réponses, actions et recommandations sans que vous ayez à demander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3337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Multi-Canaux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703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 automatiquement les discussions privées, groupes et événements connexes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320040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3337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Personnel 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3703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messagerie + ChatGPT : communiquez ET recevez de l'aide en même temps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plans, une expérience unifiée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5661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FCFA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194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de base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suggestions IA/jour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30 jours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communauté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27248" y="987552"/>
            <a:ext cx="2889504" cy="37856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97280"/>
            <a:ext cx="2743200" cy="3566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1704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RECOMMANDÉ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2011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FCFA/mois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474720" y="2560320"/>
            <a:ext cx="2194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6974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illimitée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contextuelle complète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proactives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 (calendrier, notes)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prioritaire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743200" cy="35661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FCFA/mois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400800" y="2377440"/>
            <a:ext cx="2194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5146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Premium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d'équipe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conversationnels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API &amp; White-label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dédié 24/7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&amp; POSITIONNEMENT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positionnement unique sur un marché non capturé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45262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Faible IA                    Forte IA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11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2907792"/>
            <a:ext cx="4480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143000"/>
            <a:ext cx="0" cy="34747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481328"/>
            <a:ext cx="329184" cy="329184"/>
          </a:xfrm>
          <a:prstGeom prst="ellipse">
            <a:avLst/>
          </a:prstGeom>
          <a:solidFill>
            <a:srgbClr val="25D3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47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81328" y="2212848"/>
            <a:ext cx="329184" cy="329184"/>
          </a:xfrm>
          <a:prstGeom prst="ellipse">
            <a:avLst/>
          </a:prstGeom>
          <a:solidFill>
            <a:srgbClr val="2CA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10128" y="1207008"/>
            <a:ext cx="329184" cy="329184"/>
          </a:xfrm>
          <a:prstGeom prst="ellipse">
            <a:avLst/>
          </a:prstGeom>
          <a:solidFill>
            <a:srgbClr val="7B8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5727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24528" y="1664208"/>
            <a:ext cx="329184" cy="329184"/>
          </a:xfrm>
          <a:prstGeom prst="ellipse">
            <a:avLst/>
          </a:prstGeom>
          <a:solidFill>
            <a:srgbClr val="10A3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0299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913632" y="3456432"/>
            <a:ext cx="402336" cy="402336"/>
          </a:xfrm>
          <a:prstGeom prst="ellipse">
            <a:avLst/>
          </a:prstGeom>
          <a:solidFill>
            <a:srgbClr val="0D737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38587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3017520"/>
            <a:ext cx="1371600" cy="1097280"/>
          </a:xfrm>
          <a:prstGeom prst="ellipse">
            <a:avLst/>
          </a:prstGeom>
          <a:solidFill>
            <a:srgbClr val="0D7377">
              <a:alpha val="15000"/>
            </a:srgbClr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063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577840" y="1051560"/>
            <a:ext cx="33832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1051560"/>
            <a:ext cx="50292" cy="3840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16128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avantage clé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15000" y="1508760"/>
            <a:ext cx="31546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WhatsApp/Telegram : zéro IA native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: trop cher pour l'Afrique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: pas de messagerie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: IA + messagerie + contexte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aux usages africains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prix accessible (2 000 FCFA/mois)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10-20 USD des concurrents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Freemium — Revenus récurrents, marges élevées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88920" cy="2194560"/>
          </a:xfrm>
          <a:prstGeom prst="rect">
            <a:avLst/>
          </a:prstGeom>
          <a:solidFill>
            <a:srgbClr val="0D2137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Premium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76272"/>
            <a:ext cx="224028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7627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FCFA/mois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 abonnés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 : 3,6M FCFA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0128" y="1143000"/>
            <a:ext cx="2788920" cy="2194560"/>
          </a:xfrm>
          <a:prstGeom prst="rect">
            <a:avLst/>
          </a:prstGeom>
          <a:solidFill>
            <a:srgbClr val="0D2137"/>
          </a:solidFill>
          <a:ln w="254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0128" y="12344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10128" y="171907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Business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84448" y="2176272"/>
            <a:ext cx="2240280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4448" y="217627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 FCFA/mois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263347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&amp; organisations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0128" y="297180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 : 1,8M FCFA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54496" y="1143000"/>
            <a:ext cx="2788920" cy="2194560"/>
          </a:xfrm>
          <a:prstGeom prst="rect">
            <a:avLst/>
          </a:prstGeom>
          <a:solidFill>
            <a:srgbClr val="0D2137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54496" y="12344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4496" y="171907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White-label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28816" y="2176272"/>
            <a:ext cx="22402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217627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devis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54496" y="263347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 &amp; revendeurs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54496" y="297180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 : An 2+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841248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11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~48 000 FCFA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(Lifetime Value)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mois × 2 000 FCFA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97480" y="3657600"/>
            <a:ext cx="0" cy="105156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3611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~8 000 FCFA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69748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(Coût Acquisition)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97480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 optimisé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3657600"/>
            <a:ext cx="0" cy="105156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611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4632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Ratio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(&gt; 3x visé)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95160" y="3657600"/>
            <a:ext cx="0" cy="105156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3611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An 1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9516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95160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91% en An 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FINANCIER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projections fondées sur des hypothèses conservatives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161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CA &amp; Résultat Net (Millions FCFA)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3524520"/>
            <a:ext cx="594360" cy="8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684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63040" y="3611880"/>
            <a:ext cx="411480" cy="1342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35584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-8.3M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36301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 (2026)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31720" y="2932410"/>
            <a:ext cx="594360" cy="67947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67637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0" y="3469515"/>
            <a:ext cx="411480" cy="142365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6576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+8.8M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40280" y="36301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2 (2027)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86200" y="1573471"/>
            <a:ext cx="594360" cy="2038409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1317439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589440"/>
            <a:ext cx="411480" cy="1022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6576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+63.2M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94760" y="36301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3 (2028)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3520440"/>
            <a:ext cx="182880" cy="137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474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77440" y="3520440"/>
            <a:ext cx="182880" cy="137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3474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net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43600" y="1170432"/>
            <a:ext cx="2834640" cy="685800"/>
          </a:xfrm>
          <a:prstGeom prst="rect">
            <a:avLst/>
          </a:prstGeom>
          <a:solidFill>
            <a:srgbClr val="1A3C5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35040" y="1216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7 700 000 FCFA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35040" y="1572768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 du projet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1975104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35040" y="20208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3 000 000 FCFA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35040" y="2377440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personnel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2779776"/>
            <a:ext cx="283464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35040" y="28254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4 700 000 FCFA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35040" y="3182112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sollicité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358444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35040" y="3630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mois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35040" y="3986784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sur invest.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JALONS CLÉS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calendrier réaliste sur 24 mois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148840"/>
            <a:ext cx="841248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1A3C5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0" cy="182880"/>
          </a:xfrm>
          <a:prstGeom prst="line">
            <a:avLst/>
          </a:prstGeom>
          <a:noFill/>
          <a:ln w="25400">
            <a:solidFill>
              <a:srgbClr val="1A3C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1298448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8813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581912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SARL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core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1298448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487168"/>
            <a:ext cx="137160" cy="137160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468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attendus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" y="3172968"/>
            <a:ext cx="137160" cy="137160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154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signés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8912" y="3858768"/>
            <a:ext cx="137160" cy="137160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840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94560" y="2011680"/>
            <a:ext cx="274320" cy="274320"/>
          </a:xfrm>
          <a:prstGeom prst="ellipse">
            <a:avLst/>
          </a:prstGeom>
          <a:solidFill>
            <a:srgbClr val="0D737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1828800"/>
            <a:ext cx="0" cy="18288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1051560"/>
            <a:ext cx="1298448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83080" y="108813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M2-M5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132588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28800" y="1581912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+ IA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cloud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83080" y="2423160"/>
            <a:ext cx="129844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56232" y="2487168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29968" y="2468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56232" y="3172968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29968" y="3154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payants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56232" y="3858768"/>
            <a:ext cx="137160" cy="1371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29968" y="3840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mois ROI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11880" y="2011680"/>
            <a:ext cx="274320" cy="27432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49040" y="1828800"/>
            <a:ext cx="0" cy="1828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1051560"/>
            <a:ext cx="1298448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00400" y="108813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M5-M6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0" y="132588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46120" y="1581912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testeurs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Itérations produit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0400" y="2423160"/>
            <a:ext cx="1298448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73552" y="2487168"/>
            <a:ext cx="137160" cy="1371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47288" y="2468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FAI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Togocom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73552" y="3172968"/>
            <a:ext cx="137160" cy="1371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47288" y="3154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payants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73552" y="3858768"/>
            <a:ext cx="137160" cy="1371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47288" y="3840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CI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029200" y="2011680"/>
            <a:ext cx="274320" cy="2743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66360" y="1828800"/>
            <a:ext cx="0" cy="18288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1051560"/>
            <a:ext cx="1298448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617720" y="108813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17720" y="132588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663440" y="1581912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Lomé Go-Live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marketing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617720" y="2423160"/>
            <a:ext cx="129844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90872" y="2487168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2468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90872" y="3172968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64608" y="3154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client B2B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90872" y="3858768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3840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users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446520" y="2011680"/>
            <a:ext cx="274320" cy="27432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83680" y="1828800"/>
            <a:ext cx="0" cy="18288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35040" y="1051560"/>
            <a:ext cx="1298448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035040" y="108813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M8-M12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035040" y="132588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080760" y="1581912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Togo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Bénin/CI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035040" y="2423160"/>
            <a:ext cx="1298448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08192" y="2487168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81928" y="2468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108192" y="3172968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81928" y="3154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lancée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108192" y="3858768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81928" y="3840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863840" y="2011680"/>
            <a:ext cx="274320" cy="27432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01000" y="1828800"/>
            <a:ext cx="0" cy="1828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52360" y="1051560"/>
            <a:ext cx="1298448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7452360" y="108813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2+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452360" y="132588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498080" y="1581912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UEMOA + Ghana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A funding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452360" y="2423160"/>
            <a:ext cx="129844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525512" y="2487168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699248" y="2468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525512" y="3172968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99248" y="3154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A ready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525512" y="3858768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99248" y="3840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users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talents tech au service de l'Afrique numérique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1554480"/>
          </a:xfrm>
          <a:prstGeom prst="rect">
            <a:avLst/>
          </a:prstGeom>
          <a:solidFill>
            <a:srgbClr val="0D2137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822960" cy="8229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23444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 Kassaluc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6002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Lead Developer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19659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Senior (5+ ans)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IA &amp; Cloud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distribués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60520" cy="1554480"/>
          </a:xfrm>
          <a:prstGeom prst="rect">
            <a:avLst/>
          </a:prstGeom>
          <a:solidFill>
            <a:srgbClr val="0D2137"/>
          </a:solidFill>
          <a:ln w="254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325880"/>
            <a:ext cx="822960" cy="822960"/>
          </a:xfrm>
          <a:prstGeom prst="ellipse">
            <a:avLst/>
          </a:prstGeom>
          <a:solidFill>
            <a:srgbClr val="1A3C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25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760720" y="123444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Full-Stack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16002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(recrutement M1)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19659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Flutter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FastAPI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Redis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CI/CD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4160520" cy="1554480"/>
          </a:xfrm>
          <a:prstGeom prst="rect">
            <a:avLst/>
          </a:prstGeom>
          <a:solidFill>
            <a:srgbClr val="0D2137"/>
          </a:solidFill>
          <a:ln w="254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63240"/>
            <a:ext cx="822960" cy="822960"/>
          </a:xfrm>
          <a:prstGeom prst="ellipse">
            <a:avLst/>
          </a:prstGeom>
          <a:solidFill>
            <a:srgbClr val="1E49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63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297180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IA/ML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33375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AI (recrutement M1)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25880" y="37033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LLM Engineering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modèles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 africaines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834640"/>
            <a:ext cx="4160520" cy="1554480"/>
          </a:xfrm>
          <a:prstGeom prst="rect">
            <a:avLst/>
          </a:prstGeom>
          <a:solidFill>
            <a:srgbClr val="0D2137"/>
          </a:solidFill>
          <a:ln w="25400">
            <a:solidFill>
              <a:srgbClr val="0D4F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063240"/>
            <a:ext cx="822960" cy="822960"/>
          </a:xfrm>
          <a:prstGeom prst="ellipse">
            <a:avLst/>
          </a:prstGeom>
          <a:solidFill>
            <a:srgbClr val="0D4F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63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60720" y="297180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Marketer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33375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 (M3)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37033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 Afrique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B2B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SEO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SWOT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Forces, Faiblesses, Opportunités, Menaces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206240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FORCES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propriétaire IA contextuelle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 expert Python &amp; IA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SaaS scalable sans stock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5x moins cher que concurrents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42062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FAIBLESSES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5544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early-stage (notoriété faible)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APIs IA tierces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d'éducation du marché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à compléter (recrutement)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71800"/>
            <a:ext cx="420624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175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OPPORTUNITÉS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47472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IA Afrique +40%/an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concurrent local spécialisé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FAI/télécoms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 post-COVID accélérée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71800"/>
            <a:ext cx="42062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0175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MENACES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47472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WhatsApp/Meta IA en développement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Volatilité coûts APIs IA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réglementaires CEDEAO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lente nouveaux usages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FINANCEMENT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investissement stratégique à fort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Financement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743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27632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personnel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5623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2 000 000 FCFA (26%)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743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87752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en nature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81635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1 000 000 FCFA (13%)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274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47872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IJE-UniPod (sollicité)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7764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4 700 000 FCFA (61%)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3749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79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7 700 000 FCFA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4297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11430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des Fonds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&amp; R&amp;D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1673352"/>
            <a:ext cx="1355141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7421" y="165506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20756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 (3 mois)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2148840"/>
            <a:ext cx="903427" cy="20116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15707" y="213055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0" y="25511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lancement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66560" y="2624328"/>
            <a:ext cx="382219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4499" y="26060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30266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cloud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66560" y="3099816"/>
            <a:ext cx="27797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90258" y="30815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0" y="3502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légaux &amp; divers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66560" y="3575304"/>
            <a:ext cx="27797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90258" y="355701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0" y="3977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 imprévus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66560" y="4050792"/>
            <a:ext cx="312725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25005" y="40325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4320" y="48874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Murmura — Confidentiel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D7377">
              <a:alpha val="8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Ensemble, construisons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futur de la communication en Afrique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200400" cy="0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 Kassaluc
</a:t>
            </a:r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kassaluc9770@gmail.com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Lomé, Togo — Mars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2743200" cy="114300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5 400 000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502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CA An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3383280"/>
            <a:ext cx="2743200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mois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39502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invest.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383280"/>
            <a:ext cx="2743200" cy="114300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126 000 000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9502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CA An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Murmura — Quand votre messagerie vous comprend vraiment 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48691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Murmura — Pitch Deck</dc:title>
  <dc:subject>PptxGenJS Presentation</dc:subject>
  <dc:creator>Lux Kassaluc</dc:creator>
  <cp:lastModifiedBy>Lux Kassaluc</cp:lastModifiedBy>
  <cp:revision>1</cp:revision>
  <dcterms:created xsi:type="dcterms:W3CDTF">2026-03-28T18:09:04Z</dcterms:created>
  <dcterms:modified xsi:type="dcterms:W3CDTF">2026-03-28T18:09:04Z</dcterms:modified>
</cp:coreProperties>
</file>